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8800425" cy="43200638"/>
  <p:notesSz cx="6858000" cy="9144000"/>
  <p:embeddedFontLst>
    <p:embeddedFont>
      <p:font typeface="Open Sans" panose="020B0606030504020204" pitchFamily="34" charset="0"/>
      <p:regular r:id="rId4"/>
      <p:bold r:id="rId5"/>
      <p:boldItalic r:id="rId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366">
          <p15:clr>
            <a:srgbClr val="A4A3A4"/>
          </p15:clr>
        </p15:guide>
        <p15:guide id="2" pos="5488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3" roundtripDataSignature="AMtx7mi+9yr4mDS8zg5+kfXTqvtBuST6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FF33"/>
    <a:srgbClr val="00AC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-1272" y="-1632"/>
      </p:cViewPr>
      <p:guideLst>
        <p:guide orient="horz" pos="4366"/>
        <p:guide pos="54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customschemas.google.com/relationships/presentationmetadata" Target="metadata"/><Relationship Id="rId3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15" Type="http://schemas.openxmlformats.org/officeDocument/2006/relationships/viewProps" Target="viewProps.xml"/><Relationship Id="rId4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685800"/>
            <a:ext cx="228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1306910" y="4305947"/>
            <a:ext cx="14811647" cy="2971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2613820" y="7854662"/>
            <a:ext cx="12197827" cy="3542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1220"/>
              </a:spcBef>
              <a:spcAft>
                <a:spcPts val="0"/>
              </a:spcAft>
              <a:buClr>
                <a:srgbClr val="888888"/>
              </a:buClr>
              <a:buSzPts val="6098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1067"/>
              </a:spcBef>
              <a:spcAft>
                <a:spcPts val="0"/>
              </a:spcAft>
              <a:buClr>
                <a:srgbClr val="888888"/>
              </a:buClr>
              <a:buSzPts val="5336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915"/>
              </a:spcBef>
              <a:spcAft>
                <a:spcPts val="0"/>
              </a:spcAft>
              <a:buClr>
                <a:srgbClr val="888888"/>
              </a:buClr>
              <a:buSzPts val="4574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1376492" y="8907084"/>
            <a:ext cx="14811647" cy="275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23"/>
              <a:buFont typeface="Calibri"/>
              <a:buNone/>
              <a:defRPr sz="7623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1376492" y="5874955"/>
            <a:ext cx="14811647" cy="3032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 sz="3811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686"/>
              </a:spcBef>
              <a:spcAft>
                <a:spcPts val="0"/>
              </a:spcAft>
              <a:buClr>
                <a:srgbClr val="888888"/>
              </a:buClr>
              <a:buSzPts val="3430"/>
              <a:buNone/>
              <a:defRPr sz="343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10"/>
              </a:spcBef>
              <a:spcAft>
                <a:spcPts val="0"/>
              </a:spcAft>
              <a:buClr>
                <a:srgbClr val="888888"/>
              </a:buClr>
              <a:buSzPts val="3049"/>
              <a:buNone/>
              <a:defRPr sz="3049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8857946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871273" y="3102721"/>
            <a:ext cx="7699274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871273" y="4395787"/>
            <a:ext cx="7699274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8851896" y="3102721"/>
            <a:ext cx="7702299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8851896" y="4395787"/>
            <a:ext cx="7702299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71274" y="551880"/>
            <a:ext cx="5732859" cy="2348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6812874" y="551881"/>
            <a:ext cx="9741320" cy="11830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615823" algn="l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Char char="•"/>
              <a:defRPr sz="6098"/>
            </a:lvl1pPr>
            <a:lvl2pPr marL="914400" lvl="1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–"/>
              <a:defRPr sz="5336"/>
            </a:lvl2pPr>
            <a:lvl3pPr marL="1371600" lvl="2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3pPr>
            <a:lvl4pPr marL="1828800" lvl="3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4pPr>
            <a:lvl5pPr marL="2286000" lvl="4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»"/>
              <a:defRPr sz="3811"/>
            </a:lvl5pPr>
            <a:lvl6pPr marL="2743200" lvl="5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6pPr>
            <a:lvl7pPr marL="3200400" lvl="6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7pPr>
            <a:lvl8pPr marL="3657600" lvl="7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8pPr>
            <a:lvl9pPr marL="4114800" lvl="8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871274" y="2900579"/>
            <a:ext cx="5732859" cy="9481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3415514" y="9702817"/>
            <a:ext cx="10455280" cy="1145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3415514" y="1238521"/>
            <a:ext cx="10455280" cy="8316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3415514" y="10848290"/>
            <a:ext cx="10455280" cy="1626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4138869" y="-33322"/>
            <a:ext cx="9147730" cy="15682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8680373" y="4508182"/>
            <a:ext cx="11826913" cy="3920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693699" y="732664"/>
            <a:ext cx="11826913" cy="1147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 sz="838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615823" algn="l" rtl="0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Font typeface="Arial"/>
              <a:buChar char="•"/>
              <a:defRPr sz="60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67436" algn="l" rtl="0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Font typeface="Arial"/>
              <a:buChar char="–"/>
              <a:defRPr sz="533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519049" algn="l" rtl="0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Font typeface="Arial"/>
              <a:buChar char="•"/>
              <a:defRPr sz="45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70599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–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»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4F3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234721" y="36273035"/>
            <a:ext cx="29324843" cy="6968084"/>
            <a:chOff x="0" y="-47625"/>
            <a:chExt cx="3032124" cy="655203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3032124" cy="607578"/>
            </a:xfrm>
            <a:custGeom>
              <a:avLst/>
              <a:gdLst/>
              <a:ahLst/>
              <a:cxnLst/>
              <a:rect l="l" t="t" r="r" b="b"/>
              <a:pathLst>
                <a:path w="3032124" h="607578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3163237" y="34829695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 extrusionOk="0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" name="Google Shape;88;p1"/>
          <p:cNvGrpSpPr/>
          <p:nvPr/>
        </p:nvGrpSpPr>
        <p:grpSpPr>
          <a:xfrm>
            <a:off x="-234720" y="28800364"/>
            <a:ext cx="29304069" cy="9759747"/>
            <a:chOff x="0" y="-47625"/>
            <a:chExt cx="3163653" cy="917701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3163653" cy="870076"/>
            </a:xfrm>
            <a:custGeom>
              <a:avLst/>
              <a:gdLst/>
              <a:ahLst/>
              <a:cxnLst/>
              <a:rect l="l" t="t" r="r" b="b"/>
              <a:pathLst>
                <a:path w="3163653" h="870076" extrusionOk="0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l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"/>
          <p:cNvGrpSpPr/>
          <p:nvPr/>
        </p:nvGrpSpPr>
        <p:grpSpPr>
          <a:xfrm>
            <a:off x="-234719" y="21010291"/>
            <a:ext cx="29324842" cy="9460531"/>
            <a:chOff x="0" y="-47625"/>
            <a:chExt cx="3225442" cy="889566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3225442" cy="841941"/>
            </a:xfrm>
            <a:custGeom>
              <a:avLst/>
              <a:gdLst/>
              <a:ahLst/>
              <a:cxnLst/>
              <a:rect l="l" t="t" r="r" b="b"/>
              <a:pathLst>
                <a:path w="3225442" h="841941" extrusionOk="0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1"/>
          <p:cNvGrpSpPr/>
          <p:nvPr/>
        </p:nvGrpSpPr>
        <p:grpSpPr>
          <a:xfrm>
            <a:off x="-234720" y="15561373"/>
            <a:ext cx="29304069" cy="8372962"/>
            <a:chOff x="0" y="-47625"/>
            <a:chExt cx="3032124" cy="787302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3032124" cy="739677"/>
            </a:xfrm>
            <a:custGeom>
              <a:avLst/>
              <a:gdLst/>
              <a:ahLst/>
              <a:cxnLst/>
              <a:rect l="l" t="t" r="r" b="b"/>
              <a:pathLst>
                <a:path w="3032124" h="739677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"/>
          <p:cNvGrpSpPr/>
          <p:nvPr/>
        </p:nvGrpSpPr>
        <p:grpSpPr>
          <a:xfrm>
            <a:off x="-234719" y="6816147"/>
            <a:ext cx="29304069" cy="9226118"/>
            <a:chOff x="0" y="-47625"/>
            <a:chExt cx="3218728" cy="867524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3218728" cy="819899"/>
            </a:xfrm>
            <a:custGeom>
              <a:avLst/>
              <a:gdLst/>
              <a:ahLst/>
              <a:cxnLst/>
              <a:rect l="l" t="t" r="r" b="b"/>
              <a:pathLst>
                <a:path w="3218728" h="819899" extrusionOk="0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"/>
          <p:cNvGrpSpPr/>
          <p:nvPr/>
        </p:nvGrpSpPr>
        <p:grpSpPr>
          <a:xfrm>
            <a:off x="-234719" y="-573881"/>
            <a:ext cx="29324841" cy="9050021"/>
            <a:chOff x="0" y="-47625"/>
            <a:chExt cx="2755436" cy="850966"/>
          </a:xfrm>
        </p:grpSpPr>
        <p:sp>
          <p:nvSpPr>
            <p:cNvPr id="101" name="Google Shape;101;p1"/>
            <p:cNvSpPr/>
            <p:nvPr/>
          </p:nvSpPr>
          <p:spPr>
            <a:xfrm>
              <a:off x="0" y="0"/>
              <a:ext cx="2755436" cy="803341"/>
            </a:xfrm>
            <a:custGeom>
              <a:avLst/>
              <a:gdLst/>
              <a:ahLst/>
              <a:cxnLst/>
              <a:rect l="l" t="t" r="r" b="b"/>
              <a:pathLst>
                <a:path w="2755436" h="803341" extrusionOk="0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"/>
          <p:cNvGrpSpPr/>
          <p:nvPr/>
        </p:nvGrpSpPr>
        <p:grpSpPr>
          <a:xfrm rot="-5400000">
            <a:off x="11084396" y="13184457"/>
            <a:ext cx="20464104" cy="13034120"/>
            <a:chOff x="0" y="-47625"/>
            <a:chExt cx="1922704" cy="1224620"/>
          </a:xfrm>
        </p:grpSpPr>
        <p:sp>
          <p:nvSpPr>
            <p:cNvPr id="104" name="Google Shape;104;p1"/>
            <p:cNvSpPr/>
            <p:nvPr/>
          </p:nvSpPr>
          <p:spPr>
            <a:xfrm>
              <a:off x="0" y="0"/>
              <a:ext cx="1922704" cy="1176995"/>
            </a:xfrm>
            <a:custGeom>
              <a:avLst/>
              <a:gdLst/>
              <a:ahLst/>
              <a:cxnLst/>
              <a:rect l="l" t="t" r="r" b="b"/>
              <a:pathLst>
                <a:path w="1922704" h="1176995" extrusionOk="0">
                  <a:moveTo>
                    <a:pt x="0" y="0"/>
                  </a:moveTo>
                  <a:lnTo>
                    <a:pt x="1922704" y="0"/>
                  </a:lnTo>
                  <a:lnTo>
                    <a:pt x="1922704" y="1176995"/>
                  </a:lnTo>
                  <a:lnTo>
                    <a:pt x="0" y="1176995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0" y="-47625"/>
              <a:ext cx="1922704" cy="12246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"/>
          <p:cNvGrpSpPr/>
          <p:nvPr/>
        </p:nvGrpSpPr>
        <p:grpSpPr>
          <a:xfrm>
            <a:off x="927179" y="30011217"/>
            <a:ext cx="13872207" cy="8253126"/>
            <a:chOff x="0" y="-47625"/>
            <a:chExt cx="1302166" cy="868357"/>
          </a:xfrm>
        </p:grpSpPr>
        <p:sp>
          <p:nvSpPr>
            <p:cNvPr id="107" name="Google Shape;107;p1"/>
            <p:cNvSpPr/>
            <p:nvPr/>
          </p:nvSpPr>
          <p:spPr>
            <a:xfrm>
              <a:off x="0" y="0"/>
              <a:ext cx="1302166" cy="820732"/>
            </a:xfrm>
            <a:custGeom>
              <a:avLst/>
              <a:gdLst/>
              <a:ahLst/>
              <a:cxnLst/>
              <a:rect l="l" t="t" r="r" b="b"/>
              <a:pathLst>
                <a:path w="1302166" h="820732" extrusionOk="0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0" y="-47625"/>
              <a:ext cx="1302166" cy="868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"/>
          <p:cNvGrpSpPr/>
          <p:nvPr/>
        </p:nvGrpSpPr>
        <p:grpSpPr>
          <a:xfrm>
            <a:off x="15403306" y="30138544"/>
            <a:ext cx="12527228" cy="8125799"/>
            <a:chOff x="0" y="-314078"/>
            <a:chExt cx="8764870" cy="5685342"/>
          </a:xfrm>
        </p:grpSpPr>
        <p:grpSp>
          <p:nvGrpSpPr>
            <p:cNvPr id="110" name="Google Shape;110;p1"/>
            <p:cNvGrpSpPr/>
            <p:nvPr/>
          </p:nvGrpSpPr>
          <p:grpSpPr>
            <a:xfrm>
              <a:off x="0" y="-314078"/>
              <a:ext cx="8764870" cy="5685342"/>
              <a:chOff x="0" y="-47625"/>
              <a:chExt cx="1329056" cy="862094"/>
            </a:xfrm>
          </p:grpSpPr>
          <p:sp>
            <p:nvSpPr>
              <p:cNvPr id="111" name="Google Shape;111;p1"/>
              <p:cNvSpPr/>
              <p:nvPr/>
            </p:nvSpPr>
            <p:spPr>
              <a:xfrm>
                <a:off x="0" y="0"/>
                <a:ext cx="1329056" cy="814469"/>
              </a:xfrm>
              <a:custGeom>
                <a:avLst/>
                <a:gdLst/>
                <a:ahLst/>
                <a:cxnLst/>
                <a:rect l="l" t="t" r="r" b="b"/>
                <a:pathLst>
                  <a:path w="1329056" h="814469" extrusionOk="0">
                    <a:moveTo>
                      <a:pt x="0" y="0"/>
                    </a:moveTo>
                    <a:lnTo>
                      <a:pt x="1329056" y="0"/>
                    </a:lnTo>
                    <a:lnTo>
                      <a:pt x="1329056" y="814469"/>
                    </a:lnTo>
                    <a:lnTo>
                      <a:pt x="0" y="814469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 cmpd="sng">
                <a:solidFill>
                  <a:srgbClr val="00000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769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"/>
              <p:cNvSpPr txBox="1"/>
              <p:nvPr/>
            </p:nvSpPr>
            <p:spPr>
              <a:xfrm>
                <a:off x="0" y="-47625"/>
                <a:ext cx="1329056" cy="8620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6800" tIns="96800" rIns="96800" bIns="96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22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769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3" name="Google Shape;113;p1"/>
            <p:cNvSpPr txBox="1"/>
            <p:nvPr/>
          </p:nvSpPr>
          <p:spPr>
            <a:xfrm>
              <a:off x="1064599" y="235141"/>
              <a:ext cx="6635674" cy="4333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1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62" b="1" dirty="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REFERÊNCIAS</a:t>
              </a:r>
              <a:endParaRPr dirty="0"/>
            </a:p>
          </p:txBody>
        </p:sp>
      </p:grpSp>
      <p:sp>
        <p:nvSpPr>
          <p:cNvPr id="114" name="Google Shape;114;p1"/>
          <p:cNvSpPr/>
          <p:nvPr/>
        </p:nvSpPr>
        <p:spPr>
          <a:xfrm>
            <a:off x="-916543" y="1525353"/>
            <a:ext cx="8571184" cy="2454222"/>
          </a:xfrm>
          <a:custGeom>
            <a:avLst/>
            <a:gdLst/>
            <a:ahLst/>
            <a:cxnLst/>
            <a:rect l="l" t="t" r="r" b="b"/>
            <a:pathLst>
              <a:path w="4497722" h="1287851" extrusionOk="0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3163237" y="-4997460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 extrusionOk="0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21014306" y="1712017"/>
            <a:ext cx="7228385" cy="2335060"/>
          </a:xfrm>
          <a:custGeom>
            <a:avLst/>
            <a:gdLst/>
            <a:ahLst/>
            <a:cxnLst/>
            <a:rect l="l" t="t" r="r" b="b"/>
            <a:pathLst>
              <a:path w="3793089" h="1225321" extrusionOk="0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5432058" y="12099877"/>
            <a:ext cx="4989818" cy="65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77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INTRODUÇÃO</a:t>
            </a:r>
            <a:endParaRPr dirty="0"/>
          </a:p>
        </p:txBody>
      </p:sp>
      <p:grpSp>
        <p:nvGrpSpPr>
          <p:cNvPr id="119" name="Google Shape;119;p1"/>
          <p:cNvGrpSpPr/>
          <p:nvPr/>
        </p:nvGrpSpPr>
        <p:grpSpPr>
          <a:xfrm rot="-5400000">
            <a:off x="2494599" y="7603968"/>
            <a:ext cx="10206805" cy="14355430"/>
            <a:chOff x="0" y="-47625"/>
            <a:chExt cx="958980" cy="1348764"/>
          </a:xfrm>
        </p:grpSpPr>
        <p:sp>
          <p:nvSpPr>
            <p:cNvPr id="120" name="Google Shape;120;p1"/>
            <p:cNvSpPr/>
            <p:nvPr/>
          </p:nvSpPr>
          <p:spPr>
            <a:xfrm>
              <a:off x="0" y="0"/>
              <a:ext cx="958980" cy="1301139"/>
            </a:xfrm>
            <a:custGeom>
              <a:avLst/>
              <a:gdLst/>
              <a:ahLst/>
              <a:cxnLst/>
              <a:rect l="l" t="t" r="r" b="b"/>
              <a:pathLst>
                <a:path w="958980" h="1301139" extrusionOk="0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1"/>
          <p:cNvGrpSpPr/>
          <p:nvPr/>
        </p:nvGrpSpPr>
        <p:grpSpPr>
          <a:xfrm rot="-5400000">
            <a:off x="2616002" y="17805386"/>
            <a:ext cx="9963998" cy="14355430"/>
            <a:chOff x="0" y="-47625"/>
            <a:chExt cx="936167" cy="1348764"/>
          </a:xfrm>
        </p:grpSpPr>
        <p:sp>
          <p:nvSpPr>
            <p:cNvPr id="123" name="Google Shape;123;p1"/>
            <p:cNvSpPr/>
            <p:nvPr/>
          </p:nvSpPr>
          <p:spPr>
            <a:xfrm>
              <a:off x="0" y="0"/>
              <a:ext cx="936167" cy="1301139"/>
            </a:xfrm>
            <a:custGeom>
              <a:avLst/>
              <a:gdLst/>
              <a:ahLst/>
              <a:cxnLst/>
              <a:rect l="l" t="t" r="r" b="b"/>
              <a:pathLst>
                <a:path w="936167" h="1301139" extrusionOk="0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1"/>
          <p:cNvSpPr/>
          <p:nvPr/>
        </p:nvSpPr>
        <p:spPr>
          <a:xfrm>
            <a:off x="22527251" y="36801439"/>
            <a:ext cx="5609093" cy="5642282"/>
          </a:xfrm>
          <a:custGeom>
            <a:avLst/>
            <a:gdLst/>
            <a:ahLst/>
            <a:cxnLst/>
            <a:rect l="l" t="t" r="r" b="b"/>
            <a:pathLst>
              <a:path w="2943367" h="2960783" extrusionOk="0">
                <a:moveTo>
                  <a:pt x="0" y="0"/>
                </a:moveTo>
                <a:lnTo>
                  <a:pt x="2943367" y="0"/>
                </a:lnTo>
                <a:lnTo>
                  <a:pt x="2943367" y="2960784"/>
                </a:lnTo>
                <a:lnTo>
                  <a:pt x="0" y="2960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 txBox="1"/>
          <p:nvPr/>
        </p:nvSpPr>
        <p:spPr>
          <a:xfrm>
            <a:off x="0" y="3734574"/>
            <a:ext cx="29324841" cy="177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34" b="1" dirty="0">
                <a:latin typeface="Open Sans"/>
                <a:ea typeface="Open Sans"/>
                <a:cs typeface="Open Sans"/>
                <a:sym typeface="Open Sans"/>
              </a:rPr>
              <a:t>SISTEMA MESSIER </a:t>
            </a:r>
            <a:endParaRPr dirty="0"/>
          </a:p>
        </p:txBody>
      </p:sp>
      <p:sp>
        <p:nvSpPr>
          <p:cNvPr id="127" name="Google Shape;127;p1"/>
          <p:cNvSpPr txBox="1"/>
          <p:nvPr/>
        </p:nvSpPr>
        <p:spPr>
          <a:xfrm>
            <a:off x="2467432" y="5603157"/>
            <a:ext cx="24389973" cy="3077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 dirty="0">
                <a:latin typeface="Open Sans"/>
                <a:ea typeface="Open Sans"/>
                <a:cs typeface="Open Sans"/>
                <a:sym typeface="Open Sans"/>
              </a:rPr>
              <a:t>Matheus Teixeira</a:t>
            </a:r>
            <a:r>
              <a:rPr lang="en-US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Kaue Santos, Denise De Sousa, Igor Araújo</a:t>
            </a:r>
            <a:endParaRPr dirty="0"/>
          </a:p>
          <a:p>
            <a:pPr marL="0" marR="0" lvl="0" indent="0" algn="ctr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Orientadores: </a:t>
            </a:r>
            <a:r>
              <a:rPr lang="en-US" sz="4762" b="1" dirty="0">
                <a:latin typeface="Open Sans"/>
                <a:ea typeface="Open Sans"/>
                <a:cs typeface="Open Sans"/>
                <a:sym typeface="Open Sans"/>
              </a:rPr>
              <a:t>Francisco de Souza</a:t>
            </a:r>
            <a:r>
              <a:rPr lang="en-US" sz="476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Renata Muniz, Marcelo Amorim, Katia Bossi, Robson Cardoso, Daniel da Cunha, Vitor Rosetti</a:t>
            </a:r>
            <a:endParaRPr dirty="0"/>
          </a:p>
        </p:txBody>
      </p:sp>
      <p:sp>
        <p:nvSpPr>
          <p:cNvPr id="130" name="Google Shape;130;p1"/>
          <p:cNvSpPr txBox="1"/>
          <p:nvPr/>
        </p:nvSpPr>
        <p:spPr>
          <a:xfrm>
            <a:off x="2561448" y="30828367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TECNOLOGIAS UTILIZADAS</a:t>
            </a:r>
            <a:endParaRPr dirty="0"/>
          </a:p>
        </p:txBody>
      </p:sp>
      <p:sp>
        <p:nvSpPr>
          <p:cNvPr id="131" name="Google Shape;131;p1"/>
          <p:cNvSpPr txBox="1"/>
          <p:nvPr/>
        </p:nvSpPr>
        <p:spPr>
          <a:xfrm>
            <a:off x="16608355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RESULTADOS</a:t>
            </a:r>
            <a:endParaRPr dirty="0"/>
          </a:p>
        </p:txBody>
      </p:sp>
      <p:sp>
        <p:nvSpPr>
          <p:cNvPr id="132" name="Google Shape;132;p1"/>
          <p:cNvSpPr txBox="1"/>
          <p:nvPr/>
        </p:nvSpPr>
        <p:spPr>
          <a:xfrm>
            <a:off x="2644303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PROBLEMA</a:t>
            </a:r>
            <a:endParaRPr dirty="0"/>
          </a:p>
        </p:txBody>
      </p:sp>
      <p:sp>
        <p:nvSpPr>
          <p:cNvPr id="133" name="Google Shape;133;p1"/>
          <p:cNvSpPr txBox="1"/>
          <p:nvPr/>
        </p:nvSpPr>
        <p:spPr>
          <a:xfrm>
            <a:off x="2758254" y="20302839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PROPOSTA</a:t>
            </a:r>
            <a:endParaRPr dirty="0"/>
          </a:p>
        </p:txBody>
      </p:sp>
      <p:sp>
        <p:nvSpPr>
          <p:cNvPr id="134" name="Google Shape;134;p1"/>
          <p:cNvSpPr txBox="1"/>
          <p:nvPr/>
        </p:nvSpPr>
        <p:spPr>
          <a:xfrm>
            <a:off x="15966975" y="31719851"/>
            <a:ext cx="11400000" cy="1477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Acesse nosso repositório no GitHub para consultar a documentação completa.</a:t>
            </a:r>
            <a:endParaRPr dirty="0"/>
          </a:p>
        </p:txBody>
      </p:sp>
      <p:sp>
        <p:nvSpPr>
          <p:cNvPr id="135" name="Google Shape;135;p1"/>
          <p:cNvSpPr txBox="1"/>
          <p:nvPr/>
        </p:nvSpPr>
        <p:spPr>
          <a:xfrm>
            <a:off x="1595875" y="31719850"/>
            <a:ext cx="12562800" cy="5474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70296" marR="0" lvl="1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</a:pPr>
            <a:endParaRPr dirty="0"/>
          </a:p>
          <a:p>
            <a:pPr marL="740593" marR="0" lvl="1" indent="-370297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Char char="•"/>
            </a:pP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Linguagem: C# </a:t>
            </a:r>
          </a:p>
          <a:p>
            <a:pPr marL="740593" marR="0" lvl="1" indent="-370297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Char char="•"/>
            </a:pP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Interface: WinForms / WPF </a:t>
            </a:r>
          </a:p>
          <a:p>
            <a:pPr marL="740593" marR="0" lvl="1" indent="-370297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Char char="•"/>
            </a:pP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Banco de Dados: SQLite</a:t>
            </a:r>
          </a:p>
          <a:p>
            <a:pPr marL="740593" marR="0" lvl="1" indent="-370297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Char char="•"/>
            </a:pP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Acesso a Dados: ADO.NET</a:t>
            </a:r>
          </a:p>
          <a:p>
            <a:pPr marL="740593" marR="0" lvl="1" indent="-370297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Char char="•"/>
            </a:pP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Infraestrutura de Redes: Cisco Packet Tracer</a:t>
            </a:r>
          </a:p>
          <a:p>
            <a:pPr marL="740593" marR="0" lvl="1" indent="-370297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Char char="•"/>
            </a:pP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Modelagem: Draw.io</a:t>
            </a:r>
          </a:p>
          <a:p>
            <a:pPr marL="740593" marR="0" lvl="1" indent="-370297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Char char="•"/>
            </a:pP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Versionamento: GitHub</a:t>
            </a:r>
            <a:endParaRPr lang="en-US" dirty="0"/>
          </a:p>
        </p:txBody>
      </p:sp>
      <p:sp>
        <p:nvSpPr>
          <p:cNvPr id="136" name="Google Shape;136;p1"/>
          <p:cNvSpPr txBox="1"/>
          <p:nvPr/>
        </p:nvSpPr>
        <p:spPr>
          <a:xfrm>
            <a:off x="1595870" y="10749184"/>
            <a:ext cx="12453794" cy="7389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O Sistema Messier foi concebido para gerenciar assinaturas de jogos educacionais, porém, o cenário atual apresenta lacunas críticas de controle. As escolas enfrentam a falta de filtros para IPs autorizados e a impossibilidade de monitorar o volume de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acessos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em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tempo real. Sem um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mecanismo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bloqueio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automático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atingir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o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limite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contratado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ou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relatórios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consumo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detalhados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ocorre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o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uso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indevido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da Plataforma e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perdas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financeiras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significativas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dificultando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gestão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tanto para a Messier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quanto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para as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instituições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de Ensino.</a:t>
            </a:r>
            <a:endParaRPr sz="343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" name="Google Shape;137;p1"/>
          <p:cNvSpPr txBox="1"/>
          <p:nvPr/>
        </p:nvSpPr>
        <p:spPr>
          <a:xfrm>
            <a:off x="1570066" y="21125709"/>
            <a:ext cx="12562800" cy="7389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solução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consiste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em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um Sistema desktop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que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automatiza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o controle de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acesso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e 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gestão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financeira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das assinaturas educacionais.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Através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regras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negócio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integradas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, a Plataforma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realiza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validação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inteligente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no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momento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do login,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verificando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simultaneamente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vigência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do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pacote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, 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autorização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do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endereço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IP e o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saldo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acessos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disponíveis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no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mês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. O Sistema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oferece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um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catálogo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dinâmico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de jogos e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garante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total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transparência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operacional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por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meio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registros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automáticos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em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log e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relatórios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detalhados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consumo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para 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administração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343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136933" y="39681833"/>
            <a:ext cx="28242600" cy="18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55" b="1" dirty="0">
                <a:latin typeface="Open Sans"/>
                <a:ea typeface="Open Sans"/>
                <a:cs typeface="Open Sans"/>
                <a:sym typeface="Open Sans"/>
              </a:rPr>
              <a:t>IV </a:t>
            </a:r>
            <a:r>
              <a:rPr lang="en-US" sz="4955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SEMANA FECAP DE TECNOLOGIA - 2026</a:t>
            </a:r>
            <a:endParaRPr dirty="0"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55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Fundação</a:t>
            </a:r>
            <a:r>
              <a:rPr lang="en-US" sz="4955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Escola de Comércio Álvares Penteado - FECAP</a:t>
            </a:r>
            <a:endParaRPr dirty="0"/>
          </a:p>
        </p:txBody>
      </p:sp>
      <p:sp>
        <p:nvSpPr>
          <p:cNvPr id="139" name="Google Shape;139;p1"/>
          <p:cNvSpPr txBox="1"/>
          <p:nvPr/>
        </p:nvSpPr>
        <p:spPr>
          <a:xfrm>
            <a:off x="15617816" y="10880630"/>
            <a:ext cx="11904157" cy="8867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O Sistema Messier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estabelece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um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fluxo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operacional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Seguro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que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se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inicia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na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autenticação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escola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e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passa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por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uma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triagem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automática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regras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negócio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validando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vigência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do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pacote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e 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autorização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do IP. Como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resultado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, a Plataforma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garante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que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apenas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usuários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permitidos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acessem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o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catálogo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registrando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cada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interação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em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logs de auditoria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que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alimentam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o Contador mensal de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consumo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. O Sistema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demonstrou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eficácia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aplicar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o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bloqueio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preventivo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imediato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assim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que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o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limite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cota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contratada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é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atingido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assegurando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integridade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financeira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do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modelo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negócios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e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oferecendo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total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transparência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relatórios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detalhados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uso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. </a:t>
            </a:r>
            <a:endParaRPr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BF3E178-394A-D387-5CC9-F5B6A26B90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66936" y="31976865"/>
            <a:ext cx="1727506" cy="1545493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4D17E91B-F757-921B-5057-4B960B2C2E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00981" y="35650849"/>
            <a:ext cx="1965310" cy="196531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95D884BF-2B0F-DB22-A9FB-57EE2D9EB1C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024891" y="33828177"/>
            <a:ext cx="1717489" cy="1717489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D05B567F-869D-4A48-5EC3-C527EDC685D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430720" y="20212893"/>
            <a:ext cx="12402787" cy="9629883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6CF6FDC8-3E4D-7720-5C4C-ADD269CC3DA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428958" y="32569476"/>
            <a:ext cx="4775592" cy="4775592"/>
          </a:xfrm>
          <a:prstGeom prst="rect">
            <a:avLst/>
          </a:prstGeom>
        </p:spPr>
      </p:pic>
      <p:sp>
        <p:nvSpPr>
          <p:cNvPr id="18" name="Seta: Dobrada para Cima 17">
            <a:extLst>
              <a:ext uri="{FF2B5EF4-FFF2-40B4-BE49-F238E27FC236}">
                <a16:creationId xmlns:a16="http://schemas.microsoft.com/office/drawing/2014/main" id="{EDD61873-57B5-8655-C606-077B5BC7F7FB}"/>
              </a:ext>
            </a:extLst>
          </p:cNvPr>
          <p:cNvSpPr/>
          <p:nvPr/>
        </p:nvSpPr>
        <p:spPr>
          <a:xfrm rot="5400000">
            <a:off x="20193000" y="33447175"/>
            <a:ext cx="1304164" cy="1262844"/>
          </a:xfrm>
          <a:prstGeom prst="bentUpArrow">
            <a:avLst/>
          </a:prstGeom>
          <a:solidFill>
            <a:srgbClr val="33FF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390</Words>
  <Application>Microsoft Office PowerPoint</Application>
  <PresentationFormat>Personalizar</PresentationFormat>
  <Paragraphs>23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Open Sans</vt:lpstr>
      <vt:lpstr>Calibri</vt:lpstr>
      <vt:lpstr>Arial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matheus trixeira</dc:creator>
  <cp:lastModifiedBy>matheus trixeira</cp:lastModifiedBy>
  <cp:revision>5</cp:revision>
  <dcterms:created xsi:type="dcterms:W3CDTF">2006-08-16T00:00:00Z</dcterms:created>
  <dcterms:modified xsi:type="dcterms:W3CDTF">2026-05-04T17:14:30Z</dcterms:modified>
</cp:coreProperties>
</file>